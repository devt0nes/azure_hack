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40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548640" y="2805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34640" y="21031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Template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163537" y="2377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01000" y="475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" y="100584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&amp; Context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77840" y="1444752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5 Disciplines Blocking Builders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755648"/>
          <a:ext cx="3291840" cy="23042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Discipline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it blocks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Prompt Engineering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Crafting reliable agent instructions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Development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APIs, auth, business logic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Infrastructure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ACA, Cosmos DB, Key Vault setup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CI/CD Pipelines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Actions, Docker, deployments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Observability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Tracing, cost tracking, monitoring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577840" y="4095105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i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Nexus eliminates every one of these gates.</a:t>
            </a:r>
            <a:endParaRPr lang="en-US" sz="950" dirty="0"/>
          </a:p>
        </p:txBody>
      </p:sp>
      <p:grpSp>
        <p:nvGrpSpPr>
          <p:cNvPr id="22" name="object 4">
            <a:extLst>
              <a:ext uri="{FF2B5EF4-FFF2-40B4-BE49-F238E27FC236}">
                <a16:creationId xmlns:a16="http://schemas.microsoft.com/office/drawing/2014/main" id="{906D5CD8-2A41-55A8-8408-A12E1321F55A}"/>
              </a:ext>
            </a:extLst>
          </p:cNvPr>
          <p:cNvGrpSpPr/>
          <p:nvPr/>
        </p:nvGrpSpPr>
        <p:grpSpPr>
          <a:xfrm>
            <a:off x="151034" y="269747"/>
            <a:ext cx="338011" cy="365761"/>
            <a:chOff x="478729" y="502273"/>
            <a:chExt cx="548005" cy="545465"/>
          </a:xfrm>
        </p:grpSpPr>
        <p:sp>
          <p:nvSpPr>
            <p:cNvPr id="23" name="object 5">
              <a:extLst>
                <a:ext uri="{FF2B5EF4-FFF2-40B4-BE49-F238E27FC236}">
                  <a16:creationId xmlns:a16="http://schemas.microsoft.com/office/drawing/2014/main" id="{83C62FF4-CAEB-A857-08B9-AA22030365EC}"/>
                </a:ext>
              </a:extLst>
            </p:cNvPr>
            <p:cNvSpPr/>
            <p:nvPr/>
          </p:nvSpPr>
          <p:spPr>
            <a:xfrm>
              <a:off x="478729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75" y="256059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F051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6">
              <a:extLst>
                <a:ext uri="{FF2B5EF4-FFF2-40B4-BE49-F238E27FC236}">
                  <a16:creationId xmlns:a16="http://schemas.microsoft.com/office/drawing/2014/main" id="{75DDB0C7-8C6C-195E-B9A7-40F811B91CE5}"/>
                </a:ext>
              </a:extLst>
            </p:cNvPr>
            <p:cNvSpPr/>
            <p:nvPr/>
          </p:nvSpPr>
          <p:spPr>
            <a:xfrm>
              <a:off x="770127" y="502273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7FB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7">
              <a:extLst>
                <a:ext uri="{FF2B5EF4-FFF2-40B4-BE49-F238E27FC236}">
                  <a16:creationId xmlns:a16="http://schemas.microsoft.com/office/drawing/2014/main" id="{FDACC13A-F02D-FD60-AF3C-060DAEE7038B}"/>
                </a:ext>
              </a:extLst>
            </p:cNvPr>
            <p:cNvSpPr/>
            <p:nvPr/>
          </p:nvSpPr>
          <p:spPr>
            <a:xfrm>
              <a:off x="478729" y="791132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75" y="0"/>
                  </a:moveTo>
                  <a:lnTo>
                    <a:pt x="0" y="0"/>
                  </a:lnTo>
                  <a:lnTo>
                    <a:pt x="0" y="256075"/>
                  </a:lnTo>
                  <a:lnTo>
                    <a:pt x="256075" y="256075"/>
                  </a:lnTo>
                  <a:lnTo>
                    <a:pt x="256075" y="0"/>
                  </a:lnTo>
                  <a:close/>
                </a:path>
              </a:pathLst>
            </a:custGeom>
            <a:solidFill>
              <a:srgbClr val="33A1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8">
              <a:extLst>
                <a:ext uri="{FF2B5EF4-FFF2-40B4-BE49-F238E27FC236}">
                  <a16:creationId xmlns:a16="http://schemas.microsoft.com/office/drawing/2014/main" id="{D65AB11E-C292-CC4E-DA49-54C6E635653C}"/>
                </a:ext>
              </a:extLst>
            </p:cNvPr>
            <p:cNvSpPr/>
            <p:nvPr/>
          </p:nvSpPr>
          <p:spPr>
            <a:xfrm>
              <a:off x="770127" y="791148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40" h="256540">
                  <a:moveTo>
                    <a:pt x="256059" y="0"/>
                  </a:moveTo>
                  <a:lnTo>
                    <a:pt x="0" y="0"/>
                  </a:lnTo>
                  <a:lnTo>
                    <a:pt x="0" y="256059"/>
                  </a:lnTo>
                  <a:lnTo>
                    <a:pt x="256059" y="256059"/>
                  </a:lnTo>
                  <a:lnTo>
                    <a:pt x="256059" y="0"/>
                  </a:lnTo>
                  <a:close/>
                </a:path>
              </a:pathLst>
            </a:custGeom>
            <a:solidFill>
              <a:srgbClr val="FDB8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32A31E07-7C3B-695B-DD3A-6D9A271E7E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" t="3626" r="1474" b="9970"/>
          <a:stretch>
            <a:fillRect/>
          </a:stretch>
        </p:blipFill>
        <p:spPr>
          <a:xfrm>
            <a:off x="-14070" y="-17568"/>
            <a:ext cx="9158069" cy="730080"/>
          </a:xfrm>
          <a:prstGeom prst="rect">
            <a:avLst/>
          </a:prstGeom>
        </p:spPr>
      </p:pic>
      <p:sp>
        <p:nvSpPr>
          <p:cNvPr id="31" name="TB200">
            <a:extLst>
              <a:ext uri="{FF2B5EF4-FFF2-40B4-BE49-F238E27FC236}">
                <a16:creationId xmlns:a16="http://schemas.microsoft.com/office/drawing/2014/main" id="{9491391B-197D-7524-93D8-1A0CA023ABC3}"/>
              </a:ext>
            </a:extLst>
          </p:cNvPr>
          <p:cNvSpPr/>
          <p:nvPr/>
        </p:nvSpPr>
        <p:spPr>
          <a:xfrm>
            <a:off x="320039" y="1277112"/>
            <a:ext cx="5030827" cy="857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950" b="1" dirty="0">
                <a:solidFill>
                  <a:srgbClr val="1A1A1A"/>
                </a:solidFill>
                <a:latin typeface="Segoe UI" pitchFamily="34" charset="0"/>
              </a:rPr>
              <a:t>Who the user is: </a:t>
            </a:r>
            <a:r>
              <a:rPr lang="en-GB" sz="950" dirty="0">
                <a:solidFill>
                  <a:srgbClr val="1A1A1A"/>
                </a:solidFill>
                <a:latin typeface="Segoe UI" pitchFamily="34" charset="0"/>
              </a:rPr>
              <a:t>Citizen developers: students, founders, and domain experts who have ideas but lack expertise in AI prompting, backend systems, cloud, and deployment.</a:t>
            </a:r>
            <a:endParaRPr lang="en-US" sz="950" dirty="0"/>
          </a:p>
        </p:txBody>
      </p:sp>
      <p:sp>
        <p:nvSpPr>
          <p:cNvPr id="32" name="TB201">
            <a:extLst>
              <a:ext uri="{FF2B5EF4-FFF2-40B4-BE49-F238E27FC236}">
                <a16:creationId xmlns:a16="http://schemas.microsoft.com/office/drawing/2014/main" id="{5EA683A6-A1BF-CB40-3ED3-9704C7178560}"/>
              </a:ext>
            </a:extLst>
          </p:cNvPr>
          <p:cNvSpPr/>
          <p:nvPr/>
        </p:nvSpPr>
        <p:spPr>
          <a:xfrm>
            <a:off x="298539" y="1919192"/>
            <a:ext cx="5030827" cy="857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950" b="1" dirty="0">
                <a:solidFill>
                  <a:srgbClr val="1A1A1A"/>
                </a:solidFill>
                <a:latin typeface="Segoe UI" pitchFamily="34" charset="0"/>
              </a:rPr>
              <a:t>The challenge they face: </a:t>
            </a:r>
            <a:r>
              <a:rPr lang="en-GB" sz="950" dirty="0">
                <a:solidFill>
                  <a:srgbClr val="1A1A1A"/>
                </a:solidFill>
                <a:latin typeface="Segoe UI" pitchFamily="34" charset="0"/>
              </a:rPr>
              <a:t>Turning an idea into a production-ready multi-agent app requires mastering several disciplines at once, from architecture to deployment.</a:t>
            </a:r>
            <a:endParaRPr lang="en-US" sz="950" dirty="0"/>
          </a:p>
        </p:txBody>
      </p:sp>
      <p:sp>
        <p:nvSpPr>
          <p:cNvPr id="34" name="TB202">
            <a:extLst>
              <a:ext uri="{FF2B5EF4-FFF2-40B4-BE49-F238E27FC236}">
                <a16:creationId xmlns:a16="http://schemas.microsoft.com/office/drawing/2014/main" id="{BBBE804B-D5A8-29B1-0E43-A953861A3730}"/>
              </a:ext>
            </a:extLst>
          </p:cNvPr>
          <p:cNvSpPr/>
          <p:nvPr/>
        </p:nvSpPr>
        <p:spPr>
          <a:xfrm>
            <a:off x="309310" y="2646710"/>
            <a:ext cx="5030827" cy="857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950" b="1" dirty="0">
                <a:solidFill>
                  <a:srgbClr val="1A1A1A"/>
                </a:solidFill>
                <a:latin typeface="Segoe UI" pitchFamily="34" charset="0"/>
              </a:rPr>
              <a:t>Why existing solutions fail: </a:t>
            </a:r>
            <a:r>
              <a:rPr lang="en-US" sz="950" dirty="0">
                <a:solidFill>
                  <a:srgbClr val="1A1A1A"/>
                </a:solidFill>
                <a:latin typeface="Segoe UI" pitchFamily="34" charset="0"/>
              </a:rPr>
              <a:t>GitHub Copilot assists with writing code but doesn’t architect, deploy, or test. No-code platforms sacrifice flexibility and produce non-exportable outputs. AI code generators produce isolated scripts, not production-ready containerized applications with CI/CD, secrets management, and test suites.</a:t>
            </a:r>
            <a:endParaRPr lang="en-US" sz="950" dirty="0"/>
          </a:p>
        </p:txBody>
      </p:sp>
      <p:sp>
        <p:nvSpPr>
          <p:cNvPr id="35" name="TB203">
            <a:extLst>
              <a:ext uri="{FF2B5EF4-FFF2-40B4-BE49-F238E27FC236}">
                <a16:creationId xmlns:a16="http://schemas.microsoft.com/office/drawing/2014/main" id="{A0195C94-BF92-0509-C443-56F82FACEC13}"/>
              </a:ext>
            </a:extLst>
          </p:cNvPr>
          <p:cNvSpPr/>
          <p:nvPr/>
        </p:nvSpPr>
        <p:spPr>
          <a:xfrm>
            <a:off x="298539" y="3536860"/>
            <a:ext cx="5030827" cy="857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950" b="1" dirty="0">
                <a:solidFill>
                  <a:srgbClr val="1A1A1A"/>
                </a:solidFill>
                <a:latin typeface="Segoe UI" pitchFamily="34" charset="0"/>
              </a:rPr>
              <a:t>Why this problem is worth solving now: </a:t>
            </a:r>
            <a:r>
              <a:rPr lang="en-US" sz="950" dirty="0">
                <a:solidFill>
                  <a:srgbClr val="1A1A1A"/>
                </a:solidFill>
                <a:latin typeface="Segoe UI" pitchFamily="34" charset="0"/>
              </a:rPr>
              <a:t>Azure AI Foundry, the Agent Framework, MCP servers, and LLM reasoning capabilities have just matured enough to make hierarchical multi-agent orchestration practical. The window is open to build a platform that converts natural-language intent into fully deployed, tested Azure applications.</a:t>
            </a:r>
            <a:endParaRPr lang="en-US" sz="950" dirty="0"/>
          </a:p>
        </p:txBody>
      </p:sp>
      <p:sp>
        <p:nvSpPr>
          <p:cNvPr id="36" name="TB204">
            <a:extLst>
              <a:ext uri="{FF2B5EF4-FFF2-40B4-BE49-F238E27FC236}">
                <a16:creationId xmlns:a16="http://schemas.microsoft.com/office/drawing/2014/main" id="{711065B9-8C6D-6C94-D9E5-3072FA37E8AA}"/>
              </a:ext>
            </a:extLst>
          </p:cNvPr>
          <p:cNvSpPr/>
          <p:nvPr/>
        </p:nvSpPr>
        <p:spPr>
          <a:xfrm>
            <a:off x="298539" y="4239112"/>
            <a:ext cx="5030827" cy="8571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950" b="1" dirty="0">
                <a:solidFill>
                  <a:srgbClr val="1A1A1A"/>
                </a:solidFill>
                <a:latin typeface="Segoe UI" pitchFamily="34" charset="0"/>
              </a:rPr>
              <a:t>The cost of inaction: </a:t>
            </a:r>
            <a:r>
              <a:rPr lang="en-GB" sz="950" dirty="0">
                <a:solidFill>
                  <a:srgbClr val="1A1A1A"/>
                </a:solidFill>
                <a:latin typeface="Segoe UI" pitchFamily="34" charset="0"/>
              </a:rPr>
              <a:t>Thousands of potential builders abandon ideas early because the path from concept to deployment is too complex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55448" y="201168"/>
            <a:ext cx="150876" cy="150876"/>
          </a:xfrm>
          <a:prstGeom prst="rect">
            <a:avLst/>
          </a:prstGeom>
          <a:solidFill>
            <a:srgbClr val="F05125"/>
          </a:solidFill>
          <a:ln w="12700">
            <a:solidFill>
              <a:srgbClr val="F051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15468" y="201168"/>
            <a:ext cx="150876" cy="150876"/>
          </a:xfrm>
          <a:prstGeom prst="rect">
            <a:avLst/>
          </a:prstGeom>
          <a:solidFill>
            <a:srgbClr val="7FBC42"/>
          </a:solidFill>
          <a:ln w="12700">
            <a:solidFill>
              <a:srgbClr val="7FB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" y="361188"/>
            <a:ext cx="150876" cy="150876"/>
          </a:xfrm>
          <a:prstGeom prst="rect">
            <a:avLst/>
          </a:prstGeom>
          <a:solidFill>
            <a:srgbClr val="33A1DA"/>
          </a:solidFill>
          <a:ln w="12700">
            <a:solidFill>
              <a:srgbClr val="33A1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15468" y="361188"/>
            <a:ext cx="150876" cy="150876"/>
          </a:xfrm>
          <a:prstGeom prst="rect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292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Template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52360" y="91440"/>
            <a:ext cx="502920" cy="502920"/>
          </a:xfrm>
          <a:prstGeom prst="ellipse">
            <a:avLst/>
          </a:prstGeom>
          <a:solidFill>
            <a:srgbClr val="1C6B7A"/>
          </a:solidFill>
          <a:ln w="12700">
            <a:solidFill>
              <a:srgbClr val="2AB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5236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01000" y="475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" y="100584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Overview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7074" y="1499616"/>
            <a:ext cx="8641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27074" y="1499616"/>
            <a:ext cx="54864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6802" y="15453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3086" y="1704301"/>
            <a:ext cx="84490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1A1A1A"/>
                </a:solidFill>
                <a:latin typeface="Segoe UI"/>
              </a:rPr>
              <a:t>A hierarchical multi-agent orchestration platform where users describe an app in plain language. A Director AI decomposes it into an Agent Execution Graph (AEG), a directed graph of specialized AI agents (Backend, Frontend, Database, QA, etc.) that work in parallel to produce a fully tested, containerized, deployment-ready application on Azure.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64608" y="2871216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1938" y="314037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Workflow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7074" y="3432986"/>
            <a:ext cx="1097280" cy="621792"/>
          </a:xfrm>
          <a:prstGeom prst="rect">
            <a:avLst/>
          </a:prstGeom>
          <a:solidFill>
            <a:srgbClr val="2B2B4A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27074" y="3432986"/>
            <a:ext cx="109728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Clarify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424354" y="367073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8D4"/>
                </a:solidFill>
              </a:rPr>
              <a:t>→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579802" y="3432986"/>
            <a:ext cx="10972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1579802" y="3432986"/>
            <a:ext cx="109728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Build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 Ledger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77082" y="367073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8D4"/>
                </a:solidFill>
              </a:rPr>
              <a:t>→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2530" y="3432986"/>
            <a:ext cx="10972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832530" y="3432986"/>
            <a:ext cx="109728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Plan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 AEG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29810" y="367073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8D4"/>
                </a:solidFill>
              </a:rPr>
              <a:t>→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85258" y="3432986"/>
            <a:ext cx="10972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085258" y="3432986"/>
            <a:ext cx="109728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Provision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82538" y="367073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8D4"/>
                </a:solidFill>
              </a:rPr>
              <a:t>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37986" y="3432986"/>
            <a:ext cx="10972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337986" y="3432986"/>
            <a:ext cx="109728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Parallel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(ACA)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35266" y="367073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8D4"/>
                </a:solidFill>
              </a:rPr>
              <a:t>→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90714" y="3432986"/>
            <a:ext cx="1097280" cy="62179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590714" y="3432986"/>
            <a:ext cx="109728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Preview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687994" y="3670730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78D4"/>
                </a:solidFill>
              </a:rPr>
              <a:t>→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43442" y="3432986"/>
            <a:ext cx="1097280" cy="621792"/>
          </a:xfrm>
          <a:prstGeom prst="rect">
            <a:avLst/>
          </a:prstGeom>
          <a:solidFill>
            <a:srgbClr val="2B2B4A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843442" y="3432986"/>
            <a:ext cx="109728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One-Click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8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5E084531-D58F-A0B3-BA1E-577E433C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" t="3626" r="1474" b="9970"/>
          <a:stretch>
            <a:fillRect/>
          </a:stretch>
        </p:blipFill>
        <p:spPr>
          <a:xfrm>
            <a:off x="-14070" y="-17568"/>
            <a:ext cx="9158069" cy="730080"/>
          </a:xfrm>
          <a:prstGeom prst="rect">
            <a:avLst/>
          </a:prstGeom>
        </p:spPr>
      </p:pic>
      <p:sp>
        <p:nvSpPr>
          <p:cNvPr id="55" name="Shape 13">
            <a:extLst>
              <a:ext uri="{FF2B5EF4-FFF2-40B4-BE49-F238E27FC236}">
                <a16:creationId xmlns:a16="http://schemas.microsoft.com/office/drawing/2014/main" id="{F9A25402-85C7-13C7-F192-AA5E5E642D44}"/>
              </a:ext>
            </a:extLst>
          </p:cNvPr>
          <p:cNvSpPr/>
          <p:nvPr/>
        </p:nvSpPr>
        <p:spPr>
          <a:xfrm>
            <a:off x="315468" y="2365248"/>
            <a:ext cx="8641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41FC7333-7A48-91E6-9A72-BD641566B9A4}"/>
              </a:ext>
            </a:extLst>
          </p:cNvPr>
          <p:cNvSpPr/>
          <p:nvPr/>
        </p:nvSpPr>
        <p:spPr>
          <a:xfrm>
            <a:off x="315468" y="2365248"/>
            <a:ext cx="54864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B726D147-C810-F8E0-6D74-CE95EA532620}"/>
              </a:ext>
            </a:extLst>
          </p:cNvPr>
          <p:cNvSpPr/>
          <p:nvPr/>
        </p:nvSpPr>
        <p:spPr>
          <a:xfrm>
            <a:off x="425196" y="24109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value</a:t>
            </a:r>
            <a:endParaRPr lang="en-US" sz="1000" dirty="0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75C12A2B-4A5F-D24D-AF5E-7172F20DE52A}"/>
              </a:ext>
            </a:extLst>
          </p:cNvPr>
          <p:cNvSpPr/>
          <p:nvPr/>
        </p:nvSpPr>
        <p:spPr>
          <a:xfrm>
            <a:off x="411480" y="2569933"/>
            <a:ext cx="84490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900" dirty="0">
                <a:solidFill>
                  <a:srgbClr val="1A1A1A"/>
                </a:solidFill>
                <a:latin typeface="Segoe UI"/>
              </a:rPr>
              <a:t>Zero-to-production with zero infrastructure expertise. The user provides intent; the platform handles planning, agent provisioning, parallel code generation, inter-agent coordination, testing, and one-click deployment.</a:t>
            </a:r>
            <a:endParaRPr lang="en-US" sz="900" dirty="0"/>
          </a:p>
        </p:txBody>
      </p:sp>
      <p:sp>
        <p:nvSpPr>
          <p:cNvPr id="63" name="Shape 13">
            <a:extLst>
              <a:ext uri="{FF2B5EF4-FFF2-40B4-BE49-F238E27FC236}">
                <a16:creationId xmlns:a16="http://schemas.microsoft.com/office/drawing/2014/main" id="{D74B2E83-5444-8E82-B253-31FCE66F5854}"/>
              </a:ext>
            </a:extLst>
          </p:cNvPr>
          <p:cNvSpPr/>
          <p:nvPr/>
        </p:nvSpPr>
        <p:spPr>
          <a:xfrm>
            <a:off x="306324" y="4229100"/>
            <a:ext cx="8641080" cy="713232"/>
          </a:xfrm>
          <a:prstGeom prst="rect">
            <a:avLst/>
          </a:prstGeom>
          <a:solidFill>
            <a:srgbClr val="F2F2F2"/>
          </a:solidFill>
          <a:ln w="1270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4" name="Shape 14">
            <a:extLst>
              <a:ext uri="{FF2B5EF4-FFF2-40B4-BE49-F238E27FC236}">
                <a16:creationId xmlns:a16="http://schemas.microsoft.com/office/drawing/2014/main" id="{0F9C297D-F6B4-7F2C-0919-4E86E51D7BBF}"/>
              </a:ext>
            </a:extLst>
          </p:cNvPr>
          <p:cNvSpPr/>
          <p:nvPr/>
        </p:nvSpPr>
        <p:spPr>
          <a:xfrm>
            <a:off x="306324" y="4229100"/>
            <a:ext cx="54864" cy="7132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15">
            <a:extLst>
              <a:ext uri="{FF2B5EF4-FFF2-40B4-BE49-F238E27FC236}">
                <a16:creationId xmlns:a16="http://schemas.microsoft.com/office/drawing/2014/main" id="{F6AE1E2E-A1FC-4807-73BA-EBCD3B07D5D6}"/>
              </a:ext>
            </a:extLst>
          </p:cNvPr>
          <p:cNvSpPr/>
          <p:nvPr/>
        </p:nvSpPr>
        <p:spPr>
          <a:xfrm>
            <a:off x="416052" y="42748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it distinct</a:t>
            </a:r>
            <a:endParaRPr lang="en-US" sz="1000" dirty="0"/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7FC15BC9-DA01-80C6-16B3-6B0601A9CFB7}"/>
              </a:ext>
            </a:extLst>
          </p:cNvPr>
          <p:cNvSpPr/>
          <p:nvPr/>
        </p:nvSpPr>
        <p:spPr>
          <a:xfrm>
            <a:off x="402336" y="4433785"/>
            <a:ext cx="844905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GB" sz="900" dirty="0">
                <a:solidFill>
                  <a:srgbClr val="1A1A1A"/>
                </a:solidFill>
                <a:latin typeface="Segoe UI"/>
              </a:rPr>
              <a:t>Unlike single-shot code generators, Agentic Nexus is graph-native. Agents have explicit dependency edges, communicate in real-time, self-heal via a Healer Agent, and are cost-optimized through dynamic model routing (GPT-4o -&gt; GPT-4o-mini -&gt; Phi-4). Every agent is exportable as a reusable Foundry Agent, creating a compounding ecosystem.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55448" y="201168"/>
            <a:ext cx="150876" cy="150876"/>
          </a:xfrm>
          <a:prstGeom prst="rect">
            <a:avLst/>
          </a:prstGeom>
          <a:solidFill>
            <a:srgbClr val="F05125"/>
          </a:solidFill>
          <a:ln w="12700">
            <a:solidFill>
              <a:srgbClr val="F051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15468" y="201168"/>
            <a:ext cx="150876" cy="150876"/>
          </a:xfrm>
          <a:prstGeom prst="rect">
            <a:avLst/>
          </a:prstGeom>
          <a:solidFill>
            <a:srgbClr val="7FBC42"/>
          </a:solidFill>
          <a:ln w="12700">
            <a:solidFill>
              <a:srgbClr val="7FB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" y="361188"/>
            <a:ext cx="150876" cy="150876"/>
          </a:xfrm>
          <a:prstGeom prst="rect">
            <a:avLst/>
          </a:prstGeom>
          <a:solidFill>
            <a:srgbClr val="33A1DA"/>
          </a:solidFill>
          <a:ln w="12700">
            <a:solidFill>
              <a:srgbClr val="33A1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15468" y="361188"/>
            <a:ext cx="150876" cy="150876"/>
          </a:xfrm>
          <a:prstGeom prst="rect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292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Template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52360" y="91440"/>
            <a:ext cx="502920" cy="502920"/>
          </a:xfrm>
          <a:prstGeom prst="ellipse">
            <a:avLst/>
          </a:prstGeom>
          <a:solidFill>
            <a:srgbClr val="1C6B7A"/>
          </a:solidFill>
          <a:ln w="12700">
            <a:solidFill>
              <a:srgbClr val="2AB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5236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01000" y="475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" y="96809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 &amp; User Flow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080760" y="14447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Flow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80760" y="1719072"/>
            <a:ext cx="2600178" cy="256032"/>
          </a:xfrm>
          <a:prstGeom prst="rect">
            <a:avLst/>
          </a:prstGeom>
          <a:solidFill>
            <a:srgbClr val="2B2B4A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6080760" y="1719072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describes idea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269480" y="1984014"/>
            <a:ext cx="260018" cy="99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78D4"/>
                </a:solidFill>
              </a:rPr>
              <a:t>▼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6080760" y="2099134"/>
            <a:ext cx="2600178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6077245" y="2102260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 clarifies intent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69480" y="2394322"/>
            <a:ext cx="260018" cy="99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78D4"/>
                </a:solidFill>
              </a:rPr>
              <a:t>▼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6081815" y="2479196"/>
            <a:ext cx="2600178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099400" y="2496742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Execution Graph built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269480" y="2778838"/>
            <a:ext cx="260018" cy="99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78D4"/>
                </a:solidFill>
              </a:rPr>
              <a:t>▼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6077245" y="2889504"/>
            <a:ext cx="2600178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6077245" y="2884073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provisioned (Foundry)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269480" y="3174844"/>
            <a:ext cx="260018" cy="99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78D4"/>
                </a:solidFill>
              </a:rPr>
              <a:t>▼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6077245" y="3271404"/>
            <a:ext cx="2600178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6077245" y="3271404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build in ACA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265965" y="3537714"/>
            <a:ext cx="260018" cy="99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78D4"/>
                </a:solidFill>
              </a:rPr>
              <a:t>▼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077245" y="3637282"/>
            <a:ext cx="2600178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6077245" y="3637282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A2A comms via Service Bus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265965" y="3903867"/>
            <a:ext cx="260018" cy="99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78D4"/>
                </a:solidFill>
              </a:rPr>
              <a:t>▼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6077245" y="4013988"/>
            <a:ext cx="2600178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6077245" y="4013988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validates output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65965" y="4291126"/>
            <a:ext cx="260018" cy="99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78D4"/>
                </a:solidFill>
              </a:rPr>
              <a:t>▼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6077245" y="4411800"/>
            <a:ext cx="2600178" cy="256032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6077245" y="4411800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previews live app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7265965" y="4679736"/>
            <a:ext cx="260018" cy="99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078D4"/>
                </a:solidFill>
              </a:rPr>
              <a:t>▼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6077245" y="4773168"/>
            <a:ext cx="2600178" cy="256032"/>
          </a:xfrm>
          <a:prstGeom prst="rect">
            <a:avLst/>
          </a:prstGeom>
          <a:solidFill>
            <a:srgbClr val="2B2B4A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6077245" y="4773168"/>
            <a:ext cx="2600178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deploy to Azure</a:t>
            </a:r>
            <a:endParaRPr lang="en-US" sz="85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6F8A3AB-A4D4-57F1-962E-59AEDF126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" t="3626" r="1474" b="9970"/>
          <a:stretch>
            <a:fillRect/>
          </a:stretch>
        </p:blipFill>
        <p:spPr>
          <a:xfrm>
            <a:off x="-14070" y="-17568"/>
            <a:ext cx="9158069" cy="730080"/>
          </a:xfrm>
          <a:prstGeom prst="rect">
            <a:avLst/>
          </a:prstGeom>
        </p:spPr>
      </p:pic>
      <p:sp>
        <p:nvSpPr>
          <p:cNvPr id="2" name="TB200">
            <a:extLst>
              <a:ext uri="{FF2B5EF4-FFF2-40B4-BE49-F238E27FC236}">
                <a16:creationId xmlns:a16="http://schemas.microsoft.com/office/drawing/2014/main" id="{8D6C8076-9EE3-2CFB-10F2-1B137908F331}"/>
              </a:ext>
            </a:extLst>
          </p:cNvPr>
          <p:cNvSpPr/>
          <p:nvPr/>
        </p:nvSpPr>
        <p:spPr>
          <a:xfrm>
            <a:off x="315468" y="1473357"/>
            <a:ext cx="416052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buNone/>
            </a:pPr>
            <a:r>
              <a:rPr lang="en-US" sz="1200" b="1" dirty="0">
                <a:solidFill>
                  <a:srgbClr val="1A1A1A"/>
                </a:solidFill>
                <a:latin typeface="Segoe UI"/>
              </a:rPr>
              <a:t>Top 5 Implemented Features</a:t>
            </a:r>
          </a:p>
        </p:txBody>
      </p:sp>
      <p:sp>
        <p:nvSpPr>
          <p:cNvPr id="43" name="CB201">
            <a:extLst>
              <a:ext uri="{FF2B5EF4-FFF2-40B4-BE49-F238E27FC236}">
                <a16:creationId xmlns:a16="http://schemas.microsoft.com/office/drawing/2014/main" id="{FF80992A-D81C-2145-890D-158CE807F623}"/>
              </a:ext>
            </a:extLst>
          </p:cNvPr>
          <p:cNvSpPr/>
          <p:nvPr/>
        </p:nvSpPr>
        <p:spPr>
          <a:xfrm>
            <a:off x="315467" y="1801687"/>
            <a:ext cx="5388982" cy="621792"/>
          </a:xfrm>
          <a:prstGeom prst="rect">
            <a:avLst/>
          </a:prstGeom>
          <a:solidFill>
            <a:srgbClr val="F8FBFF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078D4"/>
                </a:solidFill>
                <a:latin typeface="Segoe UI"/>
              </a:rPr>
              <a:t>1. Director Conversation &amp; Clarification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Segoe UI"/>
              </a:rPr>
              <a:t>User chats with Director AI -&gt; clarifying questions -&gt; triggers code generation.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Segoe UI"/>
              </a:rPr>
              <a:t>(</a:t>
            </a:r>
            <a:r>
              <a:rPr lang="en-US" sz="900" dirty="0" err="1">
                <a:solidFill>
                  <a:srgbClr val="444444"/>
                </a:solidFill>
                <a:latin typeface="Segoe UI"/>
              </a:rPr>
              <a:t>Conversation.jsx</a:t>
            </a:r>
            <a:r>
              <a:rPr lang="en-US" sz="900" dirty="0">
                <a:solidFill>
                  <a:srgbClr val="444444"/>
                </a:solidFill>
                <a:latin typeface="Segoe UI"/>
              </a:rPr>
              <a:t> -&gt; /clarify endpoint in app.py)</a:t>
            </a:r>
          </a:p>
        </p:txBody>
      </p:sp>
      <p:sp>
        <p:nvSpPr>
          <p:cNvPr id="45" name="CB202">
            <a:extLst>
              <a:ext uri="{FF2B5EF4-FFF2-40B4-BE49-F238E27FC236}">
                <a16:creationId xmlns:a16="http://schemas.microsoft.com/office/drawing/2014/main" id="{7B7426E7-DBF1-9932-3F8C-3306DA12F579}"/>
              </a:ext>
            </a:extLst>
          </p:cNvPr>
          <p:cNvSpPr/>
          <p:nvPr/>
        </p:nvSpPr>
        <p:spPr>
          <a:xfrm>
            <a:off x="315467" y="2410060"/>
            <a:ext cx="5388982" cy="621792"/>
          </a:xfrm>
          <a:prstGeom prst="rect">
            <a:avLst/>
          </a:prstGeom>
          <a:solidFill>
            <a:srgbClr val="F8FBFF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7B2FBE"/>
                </a:solidFill>
                <a:latin typeface="Segoe UI"/>
              </a:rPr>
              <a:t>2. Multi-Agent Swarm Execution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Segoe UI"/>
              </a:rPr>
              <a:t>9 specialized agents (backend, frontend, database, security, QA, DevOps, architect, API designer, ML engineer) execute iteratively up to 15 iterations each, coordinated via Blackboard + collaboration bus.</a:t>
            </a:r>
          </a:p>
        </p:txBody>
      </p:sp>
      <p:sp>
        <p:nvSpPr>
          <p:cNvPr id="46" name="CB203">
            <a:extLst>
              <a:ext uri="{FF2B5EF4-FFF2-40B4-BE49-F238E27FC236}">
                <a16:creationId xmlns:a16="http://schemas.microsoft.com/office/drawing/2014/main" id="{74EC399C-6001-B5B6-E8CB-E0BCA6628537}"/>
              </a:ext>
            </a:extLst>
          </p:cNvPr>
          <p:cNvSpPr/>
          <p:nvPr/>
        </p:nvSpPr>
        <p:spPr>
          <a:xfrm>
            <a:off x="306324" y="3121249"/>
            <a:ext cx="5388982" cy="621792"/>
          </a:xfrm>
          <a:prstGeom prst="rect">
            <a:avLst/>
          </a:prstGeom>
          <a:solidFill>
            <a:srgbClr val="F8FBFF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D6E4E"/>
                </a:solidFill>
                <a:latin typeface="Segoe UI"/>
              </a:rPr>
              <a:t>3. Agent Execution Graph (AEG) Visualization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Segoe UI"/>
              </a:rPr>
              <a:t>Live </a:t>
            </a:r>
            <a:r>
              <a:rPr lang="en-US" sz="900" dirty="0" err="1">
                <a:solidFill>
                  <a:srgbClr val="444444"/>
                </a:solidFill>
                <a:latin typeface="Segoe UI"/>
              </a:rPr>
              <a:t>ReactFlow</a:t>
            </a:r>
            <a:r>
              <a:rPr lang="en-US" sz="900" dirty="0">
                <a:solidFill>
                  <a:srgbClr val="444444"/>
                </a:solidFill>
                <a:latin typeface="Segoe UI"/>
              </a:rPr>
              <a:t>-powered DAG: agents as nodes colour-coded by state (PENDING / RUNNING / COMPLETED / FAILED) with animated dependency edges (</a:t>
            </a:r>
            <a:r>
              <a:rPr lang="en-US" sz="900" dirty="0" err="1">
                <a:solidFill>
                  <a:srgbClr val="444444"/>
                </a:solidFill>
                <a:latin typeface="Segoe UI"/>
              </a:rPr>
              <a:t>AEGView.jsx</a:t>
            </a:r>
            <a:r>
              <a:rPr lang="en-US" sz="900" dirty="0">
                <a:solidFill>
                  <a:srgbClr val="444444"/>
                </a:solidFill>
                <a:latin typeface="Segoe UI"/>
              </a:rPr>
              <a:t>).</a:t>
            </a:r>
          </a:p>
        </p:txBody>
      </p:sp>
      <p:sp>
        <p:nvSpPr>
          <p:cNvPr id="47" name="CB204">
            <a:extLst>
              <a:ext uri="{FF2B5EF4-FFF2-40B4-BE49-F238E27FC236}">
                <a16:creationId xmlns:a16="http://schemas.microsoft.com/office/drawing/2014/main" id="{DDFC932D-F3FC-0C80-F033-BB4051E450BB}"/>
              </a:ext>
            </a:extLst>
          </p:cNvPr>
          <p:cNvSpPr/>
          <p:nvPr/>
        </p:nvSpPr>
        <p:spPr>
          <a:xfrm>
            <a:off x="320040" y="3832438"/>
            <a:ext cx="5388982" cy="621792"/>
          </a:xfrm>
          <a:prstGeom prst="rect">
            <a:avLst/>
          </a:prstGeom>
          <a:solidFill>
            <a:srgbClr val="F8FBFF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C47D0E"/>
                </a:solidFill>
                <a:latin typeface="Segoe UI"/>
              </a:rPr>
              <a:t>4. Live Code Preview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Segoe UI"/>
              </a:rPr>
              <a:t>Generated frontend served via iframe using /api/preview/{project_id}/index.html endpoint (</a:t>
            </a:r>
            <a:r>
              <a:rPr lang="en-US" sz="900" dirty="0" err="1">
                <a:solidFill>
                  <a:srgbClr val="444444"/>
                </a:solidFill>
                <a:latin typeface="Segoe UI"/>
              </a:rPr>
              <a:t>Preview.jsx</a:t>
            </a:r>
            <a:r>
              <a:rPr lang="en-US" sz="900" dirty="0">
                <a:solidFill>
                  <a:srgbClr val="444444"/>
                </a:solidFill>
                <a:latin typeface="Segoe UI"/>
              </a:rPr>
              <a:t>).</a:t>
            </a:r>
          </a:p>
        </p:txBody>
      </p:sp>
      <p:sp>
        <p:nvSpPr>
          <p:cNvPr id="48" name="CB205">
            <a:extLst>
              <a:ext uri="{FF2B5EF4-FFF2-40B4-BE49-F238E27FC236}">
                <a16:creationId xmlns:a16="http://schemas.microsoft.com/office/drawing/2014/main" id="{553E9876-1620-328D-55DE-6A93F09BFEEA}"/>
              </a:ext>
            </a:extLst>
          </p:cNvPr>
          <p:cNvSpPr/>
          <p:nvPr/>
        </p:nvSpPr>
        <p:spPr>
          <a:xfrm>
            <a:off x="306324" y="4436612"/>
            <a:ext cx="5388982" cy="621792"/>
          </a:xfrm>
          <a:prstGeom prst="rect">
            <a:avLst/>
          </a:prstGeom>
          <a:solidFill>
            <a:srgbClr val="F8FBFF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4F8A"/>
                </a:solidFill>
                <a:latin typeface="Segoe UI"/>
              </a:rPr>
              <a:t>5. Learning Mode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44444"/>
                </a:solidFill>
                <a:latin typeface="Segoe UI"/>
              </a:rPr>
              <a:t>Interactive AI tutor powered by GPT-4o, pre-loaded with build context, answers questions at 3 depth levels.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55448" y="201168"/>
            <a:ext cx="150876" cy="150876"/>
          </a:xfrm>
          <a:prstGeom prst="rect">
            <a:avLst/>
          </a:prstGeom>
          <a:solidFill>
            <a:srgbClr val="F05125"/>
          </a:solidFill>
          <a:ln w="12700">
            <a:solidFill>
              <a:srgbClr val="F051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15468" y="201168"/>
            <a:ext cx="150876" cy="150876"/>
          </a:xfrm>
          <a:prstGeom prst="rect">
            <a:avLst/>
          </a:prstGeom>
          <a:solidFill>
            <a:srgbClr val="7FBC42"/>
          </a:solidFill>
          <a:ln w="12700">
            <a:solidFill>
              <a:srgbClr val="7FB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" y="361188"/>
            <a:ext cx="150876" cy="150876"/>
          </a:xfrm>
          <a:prstGeom prst="rect">
            <a:avLst/>
          </a:prstGeom>
          <a:solidFill>
            <a:srgbClr val="33A1DA"/>
          </a:solidFill>
          <a:ln w="12700">
            <a:solidFill>
              <a:srgbClr val="33A1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15468" y="361188"/>
            <a:ext cx="150876" cy="150876"/>
          </a:xfrm>
          <a:prstGeom prst="rect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292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Template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52360" y="91440"/>
            <a:ext cx="502920" cy="502920"/>
          </a:xfrm>
          <a:prstGeom prst="ellipse">
            <a:avLst/>
          </a:prstGeom>
          <a:solidFill>
            <a:srgbClr val="1C6B7A"/>
          </a:solidFill>
          <a:ln w="12700">
            <a:solidFill>
              <a:srgbClr val="2AB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5236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01000" y="475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" y="100584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Technology Approach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0040" y="1444752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3-Tier Agent Architecture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737360"/>
            <a:ext cx="4389120" cy="868680"/>
          </a:xfrm>
          <a:prstGeom prst="rect">
            <a:avLst/>
          </a:prstGeom>
          <a:solidFill>
            <a:srgbClr val="2B2B4A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1792224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0: DIRECTOR AI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029968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Owns Task Ledger &amp; AEG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Orchestrates all agents; never writes code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31720" y="261518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78D4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724912"/>
            <a:ext cx="438912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11480" y="2779776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1: MODULE AGENTS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3017520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· Frontend · DB Architect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Reviewer · DevOps · Docs Writer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in parallel inside Azure Container Apps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31720" y="360273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78D4"/>
                </a:solidFill>
              </a:rPr>
              <a:t>▼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712464"/>
            <a:ext cx="4389120" cy="86868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11480" y="376732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2: SUPPORT AGENTS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4005072"/>
            <a:ext cx="4206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Engineer · Healer Agent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Optimizer · Deployment Agent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Invoked on-demand across the build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4681728"/>
            <a:ext cx="4389120" cy="2743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470001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flow:  User Input  -&gt;  Director  -&gt;  AEG  -&gt;  ACA Agents  -&gt;  Cosmos DB  -&gt;  Azure Deploy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8348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Technology Stack</a:t>
            </a:r>
            <a:endParaRPr lang="en-US" sz="11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007151"/>
              </p:ext>
            </p:extLst>
          </p:nvPr>
        </p:nvGraphicFramePr>
        <p:xfrm>
          <a:off x="4983480" y="1719072"/>
          <a:ext cx="3840480" cy="321868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Director Brain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OpenAI GPT-4o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Runtime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Container Apps (ACA)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Orchestration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 Agent Framework / Magentic-One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Catalog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AI Foundry Agent Service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Memory &amp; State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Cosmos DB (NoSQL + DiskANN)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Connectivity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 Context Protocol (MCP)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Observability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AI Foundry + App Insights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CI/CD &amp; Deploy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Actions + Azure Pipelines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 Safety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AI Content Safety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 Integration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GitHub Copilot Extensions API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>
                    <a:lnL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30" name="Picture 29">
            <a:extLst>
              <a:ext uri="{FF2B5EF4-FFF2-40B4-BE49-F238E27FC236}">
                <a16:creationId xmlns:a16="http://schemas.microsoft.com/office/drawing/2014/main" id="{295EF185-9EC7-3C53-792A-28353C2D3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" t="3626" r="1474" b="9970"/>
          <a:stretch>
            <a:fillRect/>
          </a:stretch>
        </p:blipFill>
        <p:spPr>
          <a:xfrm>
            <a:off x="-14070" y="-17568"/>
            <a:ext cx="9158069" cy="73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55448" y="201168"/>
            <a:ext cx="150876" cy="150876"/>
          </a:xfrm>
          <a:prstGeom prst="rect">
            <a:avLst/>
          </a:prstGeom>
          <a:solidFill>
            <a:srgbClr val="F05125"/>
          </a:solidFill>
          <a:ln w="12700">
            <a:solidFill>
              <a:srgbClr val="F051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15468" y="201168"/>
            <a:ext cx="150876" cy="150876"/>
          </a:xfrm>
          <a:prstGeom prst="rect">
            <a:avLst/>
          </a:prstGeom>
          <a:solidFill>
            <a:srgbClr val="7FBC42"/>
          </a:solidFill>
          <a:ln w="12700">
            <a:solidFill>
              <a:srgbClr val="7FB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" y="361188"/>
            <a:ext cx="150876" cy="150876"/>
          </a:xfrm>
          <a:prstGeom prst="rect">
            <a:avLst/>
          </a:prstGeom>
          <a:solidFill>
            <a:srgbClr val="33A1DA"/>
          </a:solidFill>
          <a:ln w="12700">
            <a:solidFill>
              <a:srgbClr val="33A1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15468" y="361188"/>
            <a:ext cx="150876" cy="150876"/>
          </a:xfrm>
          <a:prstGeom prst="rect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292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Template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52360" y="91440"/>
            <a:ext cx="502920" cy="502920"/>
          </a:xfrm>
          <a:prstGeom prst="ellipse">
            <a:avLst/>
          </a:prstGeom>
          <a:solidFill>
            <a:srgbClr val="1C6B7A"/>
          </a:solidFill>
          <a:ln w="12700">
            <a:solidFill>
              <a:srgbClr val="2AB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5236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01000" y="475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20040" y="1005840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Decisions &amp; Trade-offs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-594360" y="445998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A58DEA4-0D1D-8CC5-4C6F-F5ECB62204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" t="3626" r="1474" b="9970"/>
          <a:stretch>
            <a:fillRect/>
          </a:stretch>
        </p:blipFill>
        <p:spPr>
          <a:xfrm>
            <a:off x="-14070" y="-17568"/>
            <a:ext cx="9158069" cy="730080"/>
          </a:xfrm>
          <a:prstGeom prst="rect">
            <a:avLst/>
          </a:prstGeom>
        </p:spPr>
      </p:pic>
      <p:sp>
        <p:nvSpPr>
          <p:cNvPr id="2" name="CB200">
            <a:extLst>
              <a:ext uri="{FF2B5EF4-FFF2-40B4-BE49-F238E27FC236}">
                <a16:creationId xmlns:a16="http://schemas.microsoft.com/office/drawing/2014/main" id="{7BD50A59-E01E-8E2E-4225-2C56123FF383}"/>
              </a:ext>
            </a:extLst>
          </p:cNvPr>
          <p:cNvSpPr/>
          <p:nvPr/>
        </p:nvSpPr>
        <p:spPr>
          <a:xfrm>
            <a:off x="320040" y="1578060"/>
            <a:ext cx="3977639" cy="320040"/>
          </a:xfrm>
          <a:prstGeom prst="rect">
            <a:avLst/>
          </a:prstGeom>
          <a:solidFill>
            <a:srgbClr val="155C2A"/>
          </a:solidFill>
          <a:ln/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</a:rPr>
              <a:t>Features We Prioritised</a:t>
            </a:r>
          </a:p>
        </p:txBody>
      </p:sp>
      <p:sp>
        <p:nvSpPr>
          <p:cNvPr id="16" name="CB201">
            <a:extLst>
              <a:ext uri="{FF2B5EF4-FFF2-40B4-BE49-F238E27FC236}">
                <a16:creationId xmlns:a16="http://schemas.microsoft.com/office/drawing/2014/main" id="{6670326E-F2BE-3B68-BD60-5364D1BE8C5F}"/>
              </a:ext>
            </a:extLst>
          </p:cNvPr>
          <p:cNvSpPr/>
          <p:nvPr/>
        </p:nvSpPr>
        <p:spPr>
          <a:xfrm>
            <a:off x="320040" y="1962108"/>
            <a:ext cx="3977639" cy="841248"/>
          </a:xfrm>
          <a:prstGeom prst="rect">
            <a:avLst/>
          </a:prstGeom>
          <a:solidFill>
            <a:srgbClr val="F2FBF2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55C2A"/>
                </a:solidFill>
                <a:latin typeface="Segoe UI"/>
              </a:rPr>
              <a:t>Swarm-enhanced DAG execution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Segoe UI"/>
              </a:rPr>
              <a:t>Dynamic swarm coordination- all agents concurrent with blackboard messaging, which is used alongside DAG scheduling. Faster to implement and more resilient to agent failures, while DAG preserves deterministic task dependencies.</a:t>
            </a:r>
          </a:p>
        </p:txBody>
      </p:sp>
      <p:sp>
        <p:nvSpPr>
          <p:cNvPr id="21" name="CB203">
            <a:extLst>
              <a:ext uri="{FF2B5EF4-FFF2-40B4-BE49-F238E27FC236}">
                <a16:creationId xmlns:a16="http://schemas.microsoft.com/office/drawing/2014/main" id="{C7EDD6F2-4F10-9878-AE33-60EDBECBCDC4}"/>
              </a:ext>
            </a:extLst>
          </p:cNvPr>
          <p:cNvSpPr/>
          <p:nvPr/>
        </p:nvSpPr>
        <p:spPr>
          <a:xfrm>
            <a:off x="306324" y="2875935"/>
            <a:ext cx="3977639" cy="699516"/>
          </a:xfrm>
          <a:prstGeom prst="rect">
            <a:avLst/>
          </a:prstGeom>
          <a:solidFill>
            <a:srgbClr val="F2FBF2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55C2A"/>
                </a:solidFill>
                <a:latin typeface="Segoe UI"/>
              </a:rPr>
              <a:t>Iterative agent loops (up to 15 iterations)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Segoe UI"/>
              </a:rPr>
              <a:t>Agents retry and refine their output rather than producing one-shot code. Dramatically improved code quality but increased API cost and execution time.</a:t>
            </a:r>
          </a:p>
        </p:txBody>
      </p:sp>
      <p:sp>
        <p:nvSpPr>
          <p:cNvPr id="22" name="CB210">
            <a:extLst>
              <a:ext uri="{FF2B5EF4-FFF2-40B4-BE49-F238E27FC236}">
                <a16:creationId xmlns:a16="http://schemas.microsoft.com/office/drawing/2014/main" id="{851D4263-CCE7-A151-F65A-DECD756C83A2}"/>
              </a:ext>
            </a:extLst>
          </p:cNvPr>
          <p:cNvSpPr/>
          <p:nvPr/>
        </p:nvSpPr>
        <p:spPr>
          <a:xfrm>
            <a:off x="4480560" y="1578060"/>
            <a:ext cx="4160520" cy="320040"/>
          </a:xfrm>
          <a:prstGeom prst="rect">
            <a:avLst/>
          </a:prstGeom>
          <a:solidFill>
            <a:srgbClr val="8B1A1A"/>
          </a:solidFill>
          <a:ln/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/>
              </a:rPr>
              <a:t>Intentionally Dropped (Hackathon Scope)</a:t>
            </a:r>
          </a:p>
        </p:txBody>
      </p:sp>
      <p:sp>
        <p:nvSpPr>
          <p:cNvPr id="23" name="CB211">
            <a:extLst>
              <a:ext uri="{FF2B5EF4-FFF2-40B4-BE49-F238E27FC236}">
                <a16:creationId xmlns:a16="http://schemas.microsoft.com/office/drawing/2014/main" id="{A7A152A8-E91A-A2D9-2044-3E1366A29F1B}"/>
              </a:ext>
            </a:extLst>
          </p:cNvPr>
          <p:cNvSpPr/>
          <p:nvPr/>
        </p:nvSpPr>
        <p:spPr>
          <a:xfrm>
            <a:off x="4480560" y="1962108"/>
            <a:ext cx="4160520" cy="66751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B1A1A"/>
                </a:solidFill>
                <a:latin typeface="Segoe UI"/>
              </a:rPr>
              <a:t>Docker Compose local preview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Segoe UI"/>
              </a:rPr>
              <a:t>Design calls for Docker-based local preview. Replaced with simpler iframe-based preview of generated frontend HTML, since containerizing agent-generated code end-to-end required more time than available.</a:t>
            </a:r>
          </a:p>
        </p:txBody>
      </p:sp>
      <p:sp>
        <p:nvSpPr>
          <p:cNvPr id="24" name="CB212">
            <a:extLst>
              <a:ext uri="{FF2B5EF4-FFF2-40B4-BE49-F238E27FC236}">
                <a16:creationId xmlns:a16="http://schemas.microsoft.com/office/drawing/2014/main" id="{A719982E-CBBC-1FCB-B225-7F8A4D2752C1}"/>
              </a:ext>
            </a:extLst>
          </p:cNvPr>
          <p:cNvSpPr/>
          <p:nvPr/>
        </p:nvSpPr>
        <p:spPr>
          <a:xfrm>
            <a:off x="4480560" y="2693628"/>
            <a:ext cx="4160520" cy="785664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B1A1A"/>
                </a:solidFill>
                <a:latin typeface="Segoe UI"/>
              </a:rPr>
              <a:t>Ghost Handshakes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Segoe UI"/>
              </a:rPr>
              <a:t>The design describes provisional API stubs published by upstream agents so downstream agents can start immediately. Simplified to a shared blackboard where agents post updates, trading maximum parallelism for implementation speed.</a:t>
            </a:r>
          </a:p>
        </p:txBody>
      </p:sp>
      <p:sp>
        <p:nvSpPr>
          <p:cNvPr id="25" name="CB213">
            <a:extLst>
              <a:ext uri="{FF2B5EF4-FFF2-40B4-BE49-F238E27FC236}">
                <a16:creationId xmlns:a16="http://schemas.microsoft.com/office/drawing/2014/main" id="{E531F51C-6939-7160-C75B-38F31003647E}"/>
              </a:ext>
            </a:extLst>
          </p:cNvPr>
          <p:cNvSpPr/>
          <p:nvPr/>
        </p:nvSpPr>
        <p:spPr>
          <a:xfrm>
            <a:off x="4480560" y="3543300"/>
            <a:ext cx="4160520" cy="67966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8B1A1A"/>
                </a:solidFill>
                <a:latin typeface="Segoe UI"/>
              </a:rPr>
              <a:t>Model routing (GPT-4o / mini / Phi-4)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Segoe UI"/>
              </a:rPr>
              <a:t>Due to quota constraints, the cost optimizer that dynamically selects the cheapest capable model was not implemented. All agents use GPT-4o uniformly.</a:t>
            </a:r>
          </a:p>
        </p:txBody>
      </p:sp>
      <p:sp>
        <p:nvSpPr>
          <p:cNvPr id="27" name="CB220">
            <a:extLst>
              <a:ext uri="{FF2B5EF4-FFF2-40B4-BE49-F238E27FC236}">
                <a16:creationId xmlns:a16="http://schemas.microsoft.com/office/drawing/2014/main" id="{444C1FB8-557D-F730-B72A-154142BC637A}"/>
              </a:ext>
            </a:extLst>
          </p:cNvPr>
          <p:cNvSpPr/>
          <p:nvPr/>
        </p:nvSpPr>
        <p:spPr>
          <a:xfrm>
            <a:off x="411480" y="4455397"/>
            <a:ext cx="8321040" cy="502920"/>
          </a:xfrm>
          <a:prstGeom prst="rect">
            <a:avLst/>
          </a:prstGeom>
          <a:solidFill>
            <a:srgbClr val="FFF8E7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45309"/>
                </a:solidFill>
                <a:latin typeface="Segoe UI"/>
              </a:rPr>
              <a:t>Technical Constraints: </a:t>
            </a:r>
            <a:r>
              <a:rPr lang="en-US" sz="950" dirty="0">
                <a:solidFill>
                  <a:srgbClr val="1A1A1A"/>
                </a:solidFill>
                <a:latin typeface="Segoe UI"/>
              </a:rPr>
              <a:t>Due to difficulties faced by some of our members in gaining access to model quotas, we could not implement model routing and were constrained to using gpt-4o only.</a:t>
            </a:r>
          </a:p>
        </p:txBody>
      </p:sp>
      <p:sp>
        <p:nvSpPr>
          <p:cNvPr id="28" name="CB202">
            <a:extLst>
              <a:ext uri="{FF2B5EF4-FFF2-40B4-BE49-F238E27FC236}">
                <a16:creationId xmlns:a16="http://schemas.microsoft.com/office/drawing/2014/main" id="{39DD5E7A-6EDB-5B91-5667-FED7B0B5E474}"/>
              </a:ext>
            </a:extLst>
          </p:cNvPr>
          <p:cNvSpPr/>
          <p:nvPr/>
        </p:nvSpPr>
        <p:spPr>
          <a:xfrm>
            <a:off x="306323" y="3639314"/>
            <a:ext cx="3977639" cy="699516"/>
          </a:xfrm>
          <a:prstGeom prst="rect">
            <a:avLst/>
          </a:prstGeom>
          <a:solidFill>
            <a:srgbClr val="F2FBF2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55C2A"/>
                </a:solidFill>
                <a:latin typeface="Segoe UI"/>
              </a:rPr>
              <a:t>Blackboard system and inter-agent communication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Segoe UI"/>
              </a:rPr>
              <a:t>All live agents are organized into teams, which are given their own “blackboards” to coordinate, post ideas, and decide a consistent approach to developing their respective components in the project.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155448" y="201168"/>
            <a:ext cx="150876" cy="150876"/>
          </a:xfrm>
          <a:prstGeom prst="rect">
            <a:avLst/>
          </a:prstGeom>
          <a:solidFill>
            <a:srgbClr val="F05125"/>
          </a:solidFill>
          <a:ln w="12700">
            <a:solidFill>
              <a:srgbClr val="F051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15468" y="201168"/>
            <a:ext cx="150876" cy="150876"/>
          </a:xfrm>
          <a:prstGeom prst="rect">
            <a:avLst/>
          </a:prstGeom>
          <a:solidFill>
            <a:srgbClr val="7FBC42"/>
          </a:solidFill>
          <a:ln w="12700">
            <a:solidFill>
              <a:srgbClr val="7FBC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" y="361188"/>
            <a:ext cx="150876" cy="150876"/>
          </a:xfrm>
          <a:prstGeom prst="rect">
            <a:avLst/>
          </a:prstGeom>
          <a:solidFill>
            <a:srgbClr val="33A1DA"/>
          </a:solidFill>
          <a:ln w="12700">
            <a:solidFill>
              <a:srgbClr val="33A1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15468" y="361188"/>
            <a:ext cx="150876" cy="150876"/>
          </a:xfrm>
          <a:prstGeom prst="rect">
            <a:avLst/>
          </a:prstGeom>
          <a:solidFill>
            <a:srgbClr val="FDB813"/>
          </a:solidFill>
          <a:ln w="12700">
            <a:solidFill>
              <a:srgbClr val="FDB81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2926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Template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52360" y="91440"/>
            <a:ext cx="502920" cy="502920"/>
          </a:xfrm>
          <a:prstGeom prst="ellipse">
            <a:avLst/>
          </a:prstGeom>
          <a:solidFill>
            <a:srgbClr val="1C6B7A"/>
          </a:solidFill>
          <a:ln w="12700">
            <a:solidFill>
              <a:srgbClr val="2AB8D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52360" y="91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01000" y="1280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UNLOCKED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001000" y="475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48615" y="81076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Status, Limitations &amp; Next Steps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320040" y="4700016"/>
            <a:ext cx="8503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9829B68-4DFE-DCEB-17FE-36DCA49283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" t="3626" r="1474" b="9970"/>
          <a:stretch>
            <a:fillRect/>
          </a:stretch>
        </p:blipFill>
        <p:spPr>
          <a:xfrm>
            <a:off x="-14070" y="-17568"/>
            <a:ext cx="9158069" cy="730080"/>
          </a:xfrm>
          <a:prstGeom prst="rect">
            <a:avLst/>
          </a:prstGeom>
        </p:spPr>
      </p:pic>
      <p:sp>
        <p:nvSpPr>
          <p:cNvPr id="2" name="CB200">
            <a:extLst>
              <a:ext uri="{FF2B5EF4-FFF2-40B4-BE49-F238E27FC236}">
                <a16:creationId xmlns:a16="http://schemas.microsoft.com/office/drawing/2014/main" id="{10E00523-EDFC-033E-E9FB-764B9EF53396}"/>
              </a:ext>
            </a:extLst>
          </p:cNvPr>
          <p:cNvSpPr/>
          <p:nvPr/>
        </p:nvSpPr>
        <p:spPr>
          <a:xfrm>
            <a:off x="348615" y="1264653"/>
            <a:ext cx="3596622" cy="265832"/>
          </a:xfrm>
          <a:prstGeom prst="rect">
            <a:avLst/>
          </a:prstGeom>
          <a:solidFill>
            <a:srgbClr val="155C2A"/>
          </a:solidFill>
          <a:ln/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/>
              </a:rPr>
              <a:t>Fully Functional</a:t>
            </a:r>
          </a:p>
        </p:txBody>
      </p:sp>
      <p:sp>
        <p:nvSpPr>
          <p:cNvPr id="14" name="CB201">
            <a:extLst>
              <a:ext uri="{FF2B5EF4-FFF2-40B4-BE49-F238E27FC236}">
                <a16:creationId xmlns:a16="http://schemas.microsoft.com/office/drawing/2014/main" id="{6770B3CD-AD73-F9AA-EB2F-0497E4E97D7D}"/>
              </a:ext>
            </a:extLst>
          </p:cNvPr>
          <p:cNvSpPr/>
          <p:nvPr/>
        </p:nvSpPr>
        <p:spPr>
          <a:xfrm>
            <a:off x="312343" y="1601025"/>
            <a:ext cx="3675276" cy="3463735"/>
          </a:xfrm>
          <a:prstGeom prst="rect">
            <a:avLst/>
          </a:prstGeom>
          <a:solidFill>
            <a:srgbClr val="F8FBFF"/>
          </a:solidFill>
          <a:ln/>
        </p:spPr>
        <p:txBody>
          <a:bodyPr wrap="square" lIns="91440" tIns="45720" rIns="91440" bIns="45720" rtlCol="0" anchor="t"/>
          <a:lstStyle/>
          <a:p>
            <a:pPr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Director conversation flow: user describes intent, Director responds, triggers code generation</a:t>
            </a:r>
            <a:endParaRPr lang="en-US" sz="850" dirty="0"/>
          </a:p>
          <a:p>
            <a:pPr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9-agent swarm execution: all agent roles execute iteratively (up to 15 iterations each), generating real code</a:t>
            </a:r>
          </a:p>
          <a:p>
            <a:pPr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AEG live ReactFlow visualization with state-colored nodes and animated edges</a:t>
            </a:r>
            <a:endParaRPr lang="en-US" sz="850" dirty="0"/>
          </a:p>
          <a:p>
            <a:pPr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Generated code preview: iframe-based preview of generated frontend HTML</a:t>
            </a:r>
            <a:endParaRPr lang="en-US" sz="850" dirty="0"/>
          </a:p>
          <a:p>
            <a:pPr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Audit logging: 24+ AI response logs, master audit log, communication logs all written to disk</a:t>
            </a:r>
            <a:endParaRPr lang="en-US" sz="850" dirty="0"/>
          </a:p>
          <a:p>
            <a:pPr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Blackboard system: Cosmos DB-backed inter-agent communication with global and group-scoped posts</a:t>
            </a:r>
            <a:endParaRPr lang="en-US" sz="850" dirty="0"/>
          </a:p>
          <a:p>
            <a:pPr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Learning Mode: interactive GPT-4o tutor answering questions about the build</a:t>
            </a:r>
            <a:endParaRPr lang="en-US" sz="850" dirty="0"/>
          </a:p>
          <a:p>
            <a:pPr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FastAPI REST API:  full project CRUD, artifact listing, log retrieval, health checks, deployment endpoint</a:t>
            </a:r>
            <a:endParaRPr lang="en-US" sz="850" dirty="0"/>
          </a:p>
        </p:txBody>
      </p:sp>
      <p:sp>
        <p:nvSpPr>
          <p:cNvPr id="16" name="CB220">
            <a:extLst>
              <a:ext uri="{FF2B5EF4-FFF2-40B4-BE49-F238E27FC236}">
                <a16:creationId xmlns:a16="http://schemas.microsoft.com/office/drawing/2014/main" id="{F69B3D8C-7131-BB67-6F6E-8CFBED6D6403}"/>
              </a:ext>
            </a:extLst>
          </p:cNvPr>
          <p:cNvSpPr/>
          <p:nvPr/>
        </p:nvSpPr>
        <p:spPr>
          <a:xfrm>
            <a:off x="4107016" y="1269208"/>
            <a:ext cx="1836583" cy="256032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/>
              </a:rPr>
              <a:t>Partially Implemented</a:t>
            </a:r>
          </a:p>
        </p:txBody>
      </p:sp>
      <p:sp>
        <p:nvSpPr>
          <p:cNvPr id="19" name="CB221">
            <a:extLst>
              <a:ext uri="{FF2B5EF4-FFF2-40B4-BE49-F238E27FC236}">
                <a16:creationId xmlns:a16="http://schemas.microsoft.com/office/drawing/2014/main" id="{9731A87C-FAB6-59FB-4EE6-17A7BEFCAABF}"/>
              </a:ext>
            </a:extLst>
          </p:cNvPr>
          <p:cNvSpPr/>
          <p:nvPr/>
        </p:nvSpPr>
        <p:spPr>
          <a:xfrm>
            <a:off x="4107016" y="1615274"/>
            <a:ext cx="1836584" cy="3449486"/>
          </a:xfrm>
          <a:prstGeom prst="rect">
            <a:avLst/>
          </a:prstGeom>
          <a:solidFill>
            <a:srgbClr val="F8FBFF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Deployment integration: endpoint exists but fails; the Dockerfile/Bicep/CI-CD generation pipeline is not yet wired end-to-end</a:t>
            </a:r>
            <a:endParaRPr lang="en-US" sz="850" dirty="0"/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Code preview: works for generated HTML but missing asset handling (404 errors visible in logs)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@nexus Copilot Extension: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 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Segoe UI" pitchFamily="34" charset="0"/>
                <a:ea typeface="+mn-ea"/>
                <a:cs typeface="+mn-cs"/>
              </a:rPr>
              <a:t>the VS Code chat participant for in-IDE orchestration has been built but not yet integrated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endParaRPr lang="en-US" sz="850" b="1" dirty="0"/>
          </a:p>
        </p:txBody>
      </p:sp>
      <p:sp>
        <p:nvSpPr>
          <p:cNvPr id="20" name="CB260">
            <a:extLst>
              <a:ext uri="{FF2B5EF4-FFF2-40B4-BE49-F238E27FC236}">
                <a16:creationId xmlns:a16="http://schemas.microsoft.com/office/drawing/2014/main" id="{9C1EB92D-93C4-13F0-C06A-AAED93656715}"/>
              </a:ext>
            </a:extLst>
          </p:cNvPr>
          <p:cNvSpPr/>
          <p:nvPr/>
        </p:nvSpPr>
        <p:spPr>
          <a:xfrm>
            <a:off x="6105378" y="1264653"/>
            <a:ext cx="2690007" cy="265832"/>
          </a:xfrm>
          <a:prstGeom prst="rect">
            <a:avLst/>
          </a:prstGeom>
          <a:solidFill>
            <a:srgbClr val="1B4F8A"/>
          </a:solidFill>
          <a:ln/>
        </p:spPr>
        <p:txBody>
          <a:bodyPr wrap="square" lIns="91440" tIns="45720" rIns="91440" bIns="45720" rtlCol="0" anchor="t"/>
          <a:lstStyle/>
          <a:p>
            <a:pPr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/>
              </a:rPr>
              <a:t>Planned Improvements</a:t>
            </a:r>
          </a:p>
        </p:txBody>
      </p:sp>
      <p:sp>
        <p:nvSpPr>
          <p:cNvPr id="21" name="CB261">
            <a:extLst>
              <a:ext uri="{FF2B5EF4-FFF2-40B4-BE49-F238E27FC236}">
                <a16:creationId xmlns:a16="http://schemas.microsoft.com/office/drawing/2014/main" id="{D4F7D639-0C0D-8B40-0896-77AE5DE781D2}"/>
              </a:ext>
            </a:extLst>
          </p:cNvPr>
          <p:cNvSpPr/>
          <p:nvPr/>
        </p:nvSpPr>
        <p:spPr>
          <a:xfrm>
            <a:off x="6105378" y="1615809"/>
            <a:ext cx="2690007" cy="3448951"/>
          </a:xfrm>
          <a:prstGeom prst="rect">
            <a:avLst/>
          </a:prstGeom>
          <a:solidFill>
            <a:srgbClr val="F8FBFF"/>
          </a:solidFill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Per-project isolation: namespace generated_code/ and agent_logs by project ID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Model routing &amp; cost optimization: implement the Phi-4 -&gt; GPT-4o-mini -&gt; GPT-4o escalation ladder to reduce cost by ~60%</a:t>
            </a:r>
            <a:endParaRPr lang="en-US" sz="850" dirty="0"/>
          </a:p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Docker Compose preview: containerize generated apps for true local/cloud preview</a:t>
            </a:r>
            <a:endParaRPr lang="en-US" sz="850" dirty="0"/>
          </a:p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Authentication &amp; multi-tenancy: wire Azure AD (Entra ID) with session ownership and role-based access</a:t>
            </a:r>
            <a:endParaRPr lang="en-US" sz="850" dirty="0"/>
          </a:p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Agent export to Foundry: Blueprint JSON export and standalone Foundry Agent packaging</a:t>
            </a:r>
            <a:endParaRPr lang="en-US" sz="850" dirty="0"/>
          </a:p>
          <a:p>
            <a:pPr marL="0" indent="0">
              <a:buNone/>
            </a:pPr>
            <a:r>
              <a:rPr lang="en-US" b="1" dirty="0">
                <a:solidFill>
                  <a:srgbClr val="0078D4"/>
                </a:solidFill>
              </a:rPr>
              <a:t>• </a:t>
            </a:r>
            <a:r>
              <a:rPr lang="en-US" sz="850" dirty="0">
                <a:solidFill>
                  <a:srgbClr val="1A1A1A"/>
                </a:solidFill>
                <a:latin typeface="Segoe UI" pitchFamily="34" charset="0"/>
              </a:rPr>
              <a:t>Ghost Handshakes: enable provisional stub publishing for true zero-idle parallelism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1436</Words>
  <Application>Microsoft Office PowerPoint</Application>
  <PresentationFormat>On-screen Show (16:9)</PresentationFormat>
  <Paragraphs>189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JUJHAR SINGH - 124156363 - MITMPL</cp:lastModifiedBy>
  <cp:revision>38</cp:revision>
  <cp:lastPrinted>2026-03-10T05:22:35Z</cp:lastPrinted>
  <dcterms:created xsi:type="dcterms:W3CDTF">2026-03-07T15:33:46Z</dcterms:created>
  <dcterms:modified xsi:type="dcterms:W3CDTF">2026-03-10T17:34:28Z</dcterms:modified>
</cp:coreProperties>
</file>